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89FF2-A30C-B2A9-6BC0-0621B39AD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AFD9B6-4D5A-683D-5FF0-3049CB2F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D2A2D-4AA6-B2C9-1418-D53359D8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7755F9-BD85-F479-02F4-421F2F40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EF94C-DAF4-1CF0-9B75-DC21983F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11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9C434-452F-70C7-2F79-28470E47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F825F-92F5-70E4-C62C-31D5C52AE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1D974-0F13-6D1B-0F43-35727F4D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C7BBC-11E4-C857-F348-D41FD32A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E656A-AFC2-F177-3CAD-6D798CC9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41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F33C0-D1B1-83D4-3B53-F6856C8A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29E502-B7B8-4FB2-D7C1-30B43D5AF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2E1AE4-4B6E-C954-ADAE-381AF6B9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701B6-EB2C-8B09-506C-B967F2EF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2BB6F-F39F-68DF-7B2C-F3EB7F8B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78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921F0-D11C-DD40-85DD-D1EEDCCE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19ABC-6BA2-E35B-D997-0D95F19F6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834694-1CFF-AD06-FEFA-D3FE871C7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EF265D-235C-5B20-1991-B51B4FF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E2321C-0132-570C-ADC0-52709948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929527-AC36-7E4F-E511-A4658194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87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964E3-6888-7244-961F-64850B62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09C3B1-39F2-6A0C-65AD-DE3170631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94CF67-2947-4507-B087-7D65EFC4E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050CF7-2991-29AE-0EEC-7BE42FD91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05E37E-8F96-0E51-90DB-29F0BCACE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65C67F-005F-92AD-97ED-AE0E1A78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C3D0A7-D03B-C22F-0027-A6FB6976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D7B78B-3DBC-AD9F-9F55-0C8E8EEB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06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815CC-E824-B521-D155-2D7991BC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5D72-BEFB-2FC5-8615-AFDA0F08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22746F-B27B-898A-4499-D32DF61D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E7C652-ED14-3E7E-B956-5E5570A6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5CE055-54F7-0289-D187-53A9BB9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9C0996-8D32-BC68-49BF-52D3E8E5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3D7FE-1228-445A-5F15-EF61647F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39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CF477-3447-9F9F-E5D0-5BB9FD38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6DC8D-D4A7-733B-47CA-FF04D907E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435702-E342-DE19-0967-826CEB718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F7979-0E43-6AB9-4713-B3742A40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E08D03-2DD1-8C17-4CB0-3FDD418F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27B9D-F10D-3E74-8543-2DD8B497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68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7F135-A8AB-B0EF-714D-9F221848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F037ED-ACB8-1363-0402-F2F8D6BCD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F1F6D5-BD89-1F25-D8B6-BBDF4E134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1C2843-D0B0-F4CA-40EB-36A66B66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310F6D-5F84-9491-648F-9F2326DD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E717BA-3BDF-CBC3-66B6-01100766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2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4C3A7-3BE2-4DF2-5BB7-A38BF36D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8E050A-3A86-9DB4-A28E-A9758525B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3B287-3462-AF92-5071-BF0E3AB4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44D14-E8D1-6F38-CCDA-BFEFFA60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85C28-B10D-82DA-082B-6260477F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781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8BFA11-3256-F208-9313-EE3B8F3A6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6B56D2-2087-119B-DDB0-6DA98ABE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CEB73-A0D8-853E-B8B7-8F139AC8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D484F-C46D-3B15-24ED-A57E8A04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04B7A-FE37-AE65-3989-2F5BD12E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2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57F445-39B3-F6FD-D739-D1B728679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81D7B-7290-4E2B-114B-F6DD11B5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E794A-702D-0BE7-4887-961043776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FB3DE-3CAD-4F5E-A4ED-D417D68BA3B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7A52D0-0E6A-A9EB-EBCB-33A51245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02FC2-76D4-7EA3-A0E6-05B995F13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1C70A-FB69-4068-9944-D38C2681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87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1B7BD-CAF0-A1BA-2A81-2771731B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Architecture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D6F7B8-AB30-C268-D59D-D01E6A9A39ED}"/>
              </a:ext>
            </a:extLst>
          </p:cNvPr>
          <p:cNvSpPr/>
          <p:nvPr/>
        </p:nvSpPr>
        <p:spPr>
          <a:xfrm>
            <a:off x="997520" y="2475563"/>
            <a:ext cx="1366982" cy="4618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Camera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9398862-3763-08BD-ABB8-9E88D9B15AD4}"/>
              </a:ext>
            </a:extLst>
          </p:cNvPr>
          <p:cNvSpPr/>
          <p:nvPr/>
        </p:nvSpPr>
        <p:spPr>
          <a:xfrm>
            <a:off x="3345865" y="1616798"/>
            <a:ext cx="2516909" cy="21793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</a:rPr>
              <a:t>MediaPipe</a:t>
            </a: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  <a:p>
            <a:pPr algn="ctr"/>
            <a:endParaRPr lang="en-US" altLang="ko-KR" sz="1600" b="1" dirty="0">
              <a:solidFill>
                <a:srgbClr val="C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AC8485-37A6-E668-050D-3002611E784E}"/>
              </a:ext>
            </a:extLst>
          </p:cNvPr>
          <p:cNvSpPr/>
          <p:nvPr/>
        </p:nvSpPr>
        <p:spPr>
          <a:xfrm>
            <a:off x="3345865" y="4239637"/>
            <a:ext cx="2516909" cy="21793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VLM(Qwen3-VL)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3B3D402-7450-CC5F-7BC1-A1A81CD85085}"/>
              </a:ext>
            </a:extLst>
          </p:cNvPr>
          <p:cNvSpPr/>
          <p:nvPr/>
        </p:nvSpPr>
        <p:spPr>
          <a:xfrm>
            <a:off x="7398320" y="1616798"/>
            <a:ext cx="2516904" cy="33338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Driver UI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ko-KR" altLang="en-US" b="1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4B2631-88B4-A34A-A183-D320970CC8E9}"/>
              </a:ext>
            </a:extLst>
          </p:cNvPr>
          <p:cNvSpPr/>
          <p:nvPr/>
        </p:nvSpPr>
        <p:spPr>
          <a:xfrm>
            <a:off x="7445654" y="5329311"/>
            <a:ext cx="2422236" cy="108967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Vehicle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3D6EDC-8B3C-7AAA-8765-01B9CD74E7FB}"/>
              </a:ext>
            </a:extLst>
          </p:cNvPr>
          <p:cNvSpPr/>
          <p:nvPr/>
        </p:nvSpPr>
        <p:spPr>
          <a:xfrm>
            <a:off x="3454393" y="2060288"/>
            <a:ext cx="2336800" cy="1643495"/>
          </a:xfrm>
          <a:prstGeom prst="round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C00000"/>
                </a:solidFill>
              </a:rPr>
              <a:t>Long &amp; VATS</a:t>
            </a:r>
          </a:p>
          <a:p>
            <a:pPr algn="ctr"/>
            <a:endParaRPr lang="en-US" altLang="ko-KR" sz="1600" dirty="0">
              <a:solidFill>
                <a:srgbClr val="C00000"/>
              </a:solidFill>
            </a:endParaRPr>
          </a:p>
          <a:p>
            <a:pPr algn="ctr"/>
            <a:endParaRPr lang="en-US" altLang="ko-KR" sz="1600" dirty="0">
              <a:solidFill>
                <a:srgbClr val="C00000"/>
              </a:solidFill>
            </a:endParaRPr>
          </a:p>
          <a:p>
            <a:pPr algn="ctr"/>
            <a:r>
              <a:rPr lang="en-US" altLang="ko-KR" sz="1600" dirty="0">
                <a:solidFill>
                  <a:srgbClr val="C00000"/>
                </a:solidFill>
              </a:rPr>
              <a:t>Drowsy &amp; Impairment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8DBB69-2C48-6438-5806-2FD1A1927671}"/>
              </a:ext>
            </a:extLst>
          </p:cNvPr>
          <p:cNvSpPr/>
          <p:nvPr/>
        </p:nvSpPr>
        <p:spPr>
          <a:xfrm>
            <a:off x="3454393" y="4683128"/>
            <a:ext cx="2336800" cy="166225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Unconscious</a:t>
            </a:r>
          </a:p>
          <a:p>
            <a:pPr algn="ctr"/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Blocked camera</a:t>
            </a:r>
          </a:p>
          <a:p>
            <a:pPr algn="ctr"/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Foggy lens</a:t>
            </a:r>
          </a:p>
          <a:p>
            <a:pPr algn="ctr"/>
            <a:endParaRPr lang="ko-KR" alt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EFDD152-A778-7187-79D7-65A78C838074}"/>
              </a:ext>
            </a:extLst>
          </p:cNvPr>
          <p:cNvSpPr/>
          <p:nvPr/>
        </p:nvSpPr>
        <p:spPr>
          <a:xfrm>
            <a:off x="7445654" y="2060288"/>
            <a:ext cx="2422236" cy="282574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002060"/>
                </a:solidFill>
              </a:rPr>
              <a:t>Caution</a:t>
            </a:r>
          </a:p>
          <a:p>
            <a:pPr algn="ctr"/>
            <a:endParaRPr lang="en-US" altLang="ko-KR" sz="1600" dirty="0">
              <a:solidFill>
                <a:srgbClr val="002060"/>
              </a:solidFill>
            </a:endParaRPr>
          </a:p>
          <a:p>
            <a:pPr algn="ctr"/>
            <a:endParaRPr lang="en-US" altLang="ko-KR" sz="1600" dirty="0">
              <a:solidFill>
                <a:srgbClr val="002060"/>
              </a:solidFill>
            </a:endParaRPr>
          </a:p>
          <a:p>
            <a:pPr algn="ctr"/>
            <a:r>
              <a:rPr lang="en-US" altLang="ko-KR" sz="1600" dirty="0">
                <a:solidFill>
                  <a:srgbClr val="002060"/>
                </a:solidFill>
              </a:rPr>
              <a:t>Warning</a:t>
            </a:r>
          </a:p>
          <a:p>
            <a:pPr algn="ctr"/>
            <a:endParaRPr lang="en-US" altLang="ko-KR" sz="1600" dirty="0">
              <a:solidFill>
                <a:srgbClr val="002060"/>
              </a:solidFill>
            </a:endParaRPr>
          </a:p>
          <a:p>
            <a:pPr algn="ctr"/>
            <a:endParaRPr lang="en-US" altLang="ko-KR" sz="1600" dirty="0">
              <a:solidFill>
                <a:srgbClr val="002060"/>
              </a:solidFill>
            </a:endParaRPr>
          </a:p>
          <a:p>
            <a:pPr algn="ctr"/>
            <a:r>
              <a:rPr lang="en-US" altLang="ko-KR" sz="1600" dirty="0">
                <a:solidFill>
                  <a:srgbClr val="002060"/>
                </a:solidFill>
              </a:rPr>
              <a:t>MRM</a:t>
            </a:r>
          </a:p>
          <a:p>
            <a:pPr algn="ctr"/>
            <a:endParaRPr lang="en-US" altLang="ko-KR" dirty="0">
              <a:solidFill>
                <a:srgbClr val="002060"/>
              </a:solidFill>
            </a:endParaRPr>
          </a:p>
          <a:p>
            <a:pPr algn="ctr"/>
            <a:endParaRPr lang="en-US" altLang="ko-KR" dirty="0">
              <a:solidFill>
                <a:srgbClr val="002060"/>
              </a:solidFill>
            </a:endParaRPr>
          </a:p>
          <a:p>
            <a:pPr algn="ctr"/>
            <a:r>
              <a:rPr lang="en-US" altLang="ko-KR" dirty="0">
                <a:solidFill>
                  <a:srgbClr val="002060"/>
                </a:solidFill>
              </a:rPr>
              <a:t>Camera issue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6C1CD85-5AC0-FE4A-62E7-96A594848434}"/>
              </a:ext>
            </a:extLst>
          </p:cNvPr>
          <p:cNvSpPr/>
          <p:nvPr/>
        </p:nvSpPr>
        <p:spPr>
          <a:xfrm>
            <a:off x="7527630" y="5772728"/>
            <a:ext cx="2272146" cy="572655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Brake haptic nudge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6CBE0E0-8F88-868C-E3F9-6BADC31DD221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604320" y="3796146"/>
            <a:ext cx="0" cy="4434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3E29B77-DB35-45AA-7AE4-E484CDC64D9A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364502" y="2706472"/>
            <a:ext cx="981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61FA586-91AB-A161-7555-06A16C0D9D8F}"/>
              </a:ext>
            </a:extLst>
          </p:cNvPr>
          <p:cNvCxnSpPr>
            <a:cxnSpLocks/>
          </p:cNvCxnSpPr>
          <p:nvPr/>
        </p:nvCxnSpPr>
        <p:spPr>
          <a:xfrm flipV="1">
            <a:off x="5862774" y="2360578"/>
            <a:ext cx="1535545" cy="39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73BA767-A0EE-220F-8C27-C1C793B52BA6}"/>
              </a:ext>
            </a:extLst>
          </p:cNvPr>
          <p:cNvCxnSpPr>
            <a:cxnSpLocks/>
          </p:cNvCxnSpPr>
          <p:nvPr/>
        </p:nvCxnSpPr>
        <p:spPr>
          <a:xfrm flipV="1">
            <a:off x="5862774" y="2451404"/>
            <a:ext cx="1535545" cy="8299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101D9F3-6F93-8F34-7184-6D47CB61EAD4}"/>
              </a:ext>
            </a:extLst>
          </p:cNvPr>
          <p:cNvCxnSpPr>
            <a:cxnSpLocks/>
          </p:cNvCxnSpPr>
          <p:nvPr/>
        </p:nvCxnSpPr>
        <p:spPr>
          <a:xfrm flipV="1">
            <a:off x="5862774" y="3096471"/>
            <a:ext cx="1503643" cy="184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81BD211-DCAF-ACA2-1E57-3D9653AB8A61}"/>
              </a:ext>
            </a:extLst>
          </p:cNvPr>
          <p:cNvCxnSpPr>
            <a:cxnSpLocks/>
          </p:cNvCxnSpPr>
          <p:nvPr/>
        </p:nvCxnSpPr>
        <p:spPr>
          <a:xfrm flipH="1">
            <a:off x="9878280" y="3079859"/>
            <a:ext cx="47334" cy="2988000"/>
          </a:xfrm>
          <a:prstGeom prst="bentConnector3">
            <a:avLst>
              <a:gd name="adj1" fmla="val -184887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EEDFA54-E88B-C8E0-8933-40CDBE1528C5}"/>
              </a:ext>
            </a:extLst>
          </p:cNvPr>
          <p:cNvCxnSpPr>
            <a:cxnSpLocks/>
          </p:cNvCxnSpPr>
          <p:nvPr/>
        </p:nvCxnSpPr>
        <p:spPr>
          <a:xfrm rot="10800000">
            <a:off x="7398320" y="3791055"/>
            <a:ext cx="47334" cy="2268000"/>
          </a:xfrm>
          <a:prstGeom prst="bentConnector3">
            <a:avLst>
              <a:gd name="adj1" fmla="val 142201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69F74E7-9325-D1C3-69FE-146C01ED091A}"/>
              </a:ext>
            </a:extLst>
          </p:cNvPr>
          <p:cNvSpPr/>
          <p:nvPr/>
        </p:nvSpPr>
        <p:spPr>
          <a:xfrm>
            <a:off x="6104073" y="2435337"/>
            <a:ext cx="1052946" cy="230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Score &gt; 50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3B0D1C9-D049-90A2-AA09-E483CF6F0611}"/>
              </a:ext>
            </a:extLst>
          </p:cNvPr>
          <p:cNvSpPr/>
          <p:nvPr/>
        </p:nvSpPr>
        <p:spPr>
          <a:xfrm rot="21158835">
            <a:off x="6188513" y="3165872"/>
            <a:ext cx="1052946" cy="230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Score &gt; 70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3C0D70C-F974-9A06-114C-BDDF1809DD1A}"/>
              </a:ext>
            </a:extLst>
          </p:cNvPr>
          <p:cNvSpPr/>
          <p:nvPr/>
        </p:nvSpPr>
        <p:spPr>
          <a:xfrm>
            <a:off x="6313471" y="5900101"/>
            <a:ext cx="1052946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No response from driver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2B65122-E3B9-D1F0-A929-8B6B5DE7CCD1}"/>
              </a:ext>
            </a:extLst>
          </p:cNvPr>
          <p:cNvCxnSpPr>
            <a:cxnSpLocks/>
          </p:cNvCxnSpPr>
          <p:nvPr/>
        </p:nvCxnSpPr>
        <p:spPr>
          <a:xfrm flipV="1">
            <a:off x="5869706" y="4701126"/>
            <a:ext cx="1503216" cy="698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09B4866-B78D-A0F8-7CDA-E5AE012E5E27}"/>
              </a:ext>
            </a:extLst>
          </p:cNvPr>
          <p:cNvCxnSpPr>
            <a:cxnSpLocks/>
          </p:cNvCxnSpPr>
          <p:nvPr/>
        </p:nvCxnSpPr>
        <p:spPr>
          <a:xfrm flipV="1">
            <a:off x="5862773" y="4823555"/>
            <a:ext cx="1559213" cy="1106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C7C3BD21-23C9-7662-4D54-EF2BC826E1FF}"/>
              </a:ext>
            </a:extLst>
          </p:cNvPr>
          <p:cNvCxnSpPr>
            <a:cxnSpLocks/>
          </p:cNvCxnSpPr>
          <p:nvPr/>
        </p:nvCxnSpPr>
        <p:spPr>
          <a:xfrm flipV="1">
            <a:off x="5869706" y="3916814"/>
            <a:ext cx="1518223" cy="995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1F3A8FA-03C6-0083-B363-CC05E76396E1}"/>
              </a:ext>
            </a:extLst>
          </p:cNvPr>
          <p:cNvSpPr/>
          <p:nvPr/>
        </p:nvSpPr>
        <p:spPr>
          <a:xfrm>
            <a:off x="2638632" y="3837836"/>
            <a:ext cx="1964079" cy="36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Parameter freeze &gt; 2s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03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8ECC-AA77-D5C9-7210-A42D0B38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A0621-84A8-AE56-4648-2B686107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MediaPipe – Drowsy &amp; Impairment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3EC5944-7B0A-F807-E6ED-C40886353381}"/>
              </a:ext>
            </a:extLst>
          </p:cNvPr>
          <p:cNvSpPr txBox="1">
            <a:spLocks/>
          </p:cNvSpPr>
          <p:nvPr/>
        </p:nvSpPr>
        <p:spPr>
          <a:xfrm>
            <a:off x="6422593" y="1875417"/>
            <a:ext cx="3857479" cy="4310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Logic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altLang="ko-KR" sz="900" dirty="0"/>
          </a:p>
          <a:p>
            <a:r>
              <a:rPr lang="en-US" altLang="ko-KR" sz="2400" dirty="0"/>
              <a:t>Score &gt; 50</a:t>
            </a:r>
          </a:p>
          <a:p>
            <a:pPr lvl="1"/>
            <a:r>
              <a:rPr lang="en-US" altLang="ko-KR" sz="2000" dirty="0"/>
              <a:t>Warning pop up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sz="2400" dirty="0"/>
              <a:t>Score &gt; 70</a:t>
            </a:r>
          </a:p>
          <a:p>
            <a:pPr lvl="1"/>
            <a:r>
              <a:rPr lang="en-US" altLang="ko-KR" sz="2000" dirty="0"/>
              <a:t>Warning sound</a:t>
            </a:r>
          </a:p>
          <a:p>
            <a:pPr lvl="1"/>
            <a:r>
              <a:rPr lang="en-US" altLang="ko-KR" sz="2000" dirty="0"/>
              <a:t>Check pop up</a:t>
            </a:r>
          </a:p>
          <a:p>
            <a:pPr lvl="2"/>
            <a:r>
              <a:rPr lang="en-US" altLang="ko-KR" sz="1800" dirty="0"/>
              <a:t>MRM (if no response)</a:t>
            </a:r>
          </a:p>
          <a:p>
            <a:pPr marL="0" indent="0" algn="ctr">
              <a:buNone/>
            </a:pPr>
            <a:endParaRPr lang="en-US" altLang="ko-KR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01E8322-246C-3570-F486-6637C123D95E}"/>
              </a:ext>
            </a:extLst>
          </p:cNvPr>
          <p:cNvSpPr txBox="1">
            <a:spLocks/>
          </p:cNvSpPr>
          <p:nvPr/>
        </p:nvSpPr>
        <p:spPr>
          <a:xfrm>
            <a:off x="1596592" y="1875418"/>
            <a:ext cx="3631189" cy="4310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Drowsy</a:t>
            </a:r>
          </a:p>
          <a:p>
            <a:r>
              <a:rPr lang="en-US" altLang="ko-KR" sz="2000" dirty="0" err="1"/>
              <a:t>Perclos</a:t>
            </a:r>
            <a:r>
              <a:rPr lang="en-US" altLang="ko-KR" sz="2000" dirty="0"/>
              <a:t> (</a:t>
            </a:r>
            <a:r>
              <a:rPr lang="ko-KR" altLang="en-US" sz="2000" dirty="0" err="1"/>
              <a:t>눈감김</a:t>
            </a:r>
            <a:r>
              <a:rPr lang="ko-KR" altLang="en-US" sz="2000" dirty="0"/>
              <a:t> 정도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Eyes closed</a:t>
            </a:r>
          </a:p>
          <a:p>
            <a:r>
              <a:rPr lang="en-US" altLang="ko-KR" sz="2000" dirty="0"/>
              <a:t>Pitch &amp; Roll movement</a:t>
            </a:r>
          </a:p>
          <a:p>
            <a:r>
              <a:rPr lang="ko-KR" altLang="en-US" sz="2000" dirty="0"/>
              <a:t>단방향</a:t>
            </a:r>
            <a:r>
              <a:rPr lang="en-US" altLang="ko-KR" sz="2000" dirty="0"/>
              <a:t>, </a:t>
            </a:r>
            <a:r>
              <a:rPr lang="ko-KR" altLang="en-US" sz="2000" dirty="0"/>
              <a:t>반복적 행동</a:t>
            </a:r>
            <a:endParaRPr lang="en-US" altLang="ko-KR" sz="2000" dirty="0"/>
          </a:p>
          <a:p>
            <a:endParaRPr lang="en-US" altLang="ko-KR" sz="1050" dirty="0"/>
          </a:p>
          <a:p>
            <a:pPr marL="0" indent="0" algn="ctr">
              <a:buNone/>
            </a:pPr>
            <a:r>
              <a:rPr lang="en-US" altLang="ko-KR" dirty="0"/>
              <a:t>Impairment</a:t>
            </a:r>
          </a:p>
          <a:p>
            <a:r>
              <a:rPr lang="en-US" altLang="ko-KR" sz="2000" dirty="0"/>
              <a:t>Iris jitter (</a:t>
            </a:r>
            <a:r>
              <a:rPr lang="ko-KR" altLang="en-US" sz="2000" dirty="0"/>
              <a:t>시선 떨림 정도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Yaw &amp; Roll movement</a:t>
            </a:r>
          </a:p>
          <a:p>
            <a:r>
              <a:rPr lang="ko-KR" altLang="en-US" sz="2000" dirty="0"/>
              <a:t>불규칙</a:t>
            </a:r>
            <a:r>
              <a:rPr lang="en-US" altLang="ko-KR" sz="2000" dirty="0"/>
              <a:t> </a:t>
            </a:r>
            <a:r>
              <a:rPr lang="ko-KR" altLang="en-US" sz="2000" dirty="0"/>
              <a:t>행동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978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147B-7940-F965-61B7-C7166453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FCDBE-3E6B-D4BB-F6B9-0D6E8A83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AD544-C8FF-5176-A48E-C1E58567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827" y="1520830"/>
            <a:ext cx="3364345" cy="234921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dirty="0"/>
              <a:t>Blocked Camera</a:t>
            </a:r>
          </a:p>
          <a:p>
            <a:pPr marL="0" indent="0" algn="ctr">
              <a:buNone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4F34D43-5463-6F09-0E74-70A6E7869FB6}"/>
              </a:ext>
            </a:extLst>
          </p:cNvPr>
          <p:cNvGrpSpPr/>
          <p:nvPr/>
        </p:nvGrpSpPr>
        <p:grpSpPr>
          <a:xfrm>
            <a:off x="544946" y="1520830"/>
            <a:ext cx="2826328" cy="3214255"/>
            <a:chOff x="544945" y="2065769"/>
            <a:chExt cx="3528291" cy="3788466"/>
          </a:xfrm>
        </p:grpSpPr>
        <p:sp>
          <p:nvSpPr>
            <p:cNvPr id="4" name="내용 개체 틀 2">
              <a:extLst>
                <a:ext uri="{FF2B5EF4-FFF2-40B4-BE49-F238E27FC236}">
                  <a16:creationId xmlns:a16="http://schemas.microsoft.com/office/drawing/2014/main" id="{8C66223E-FEE0-8095-E9FB-87D246C7BC86}"/>
                </a:ext>
              </a:extLst>
            </p:cNvPr>
            <p:cNvSpPr txBox="1">
              <a:spLocks/>
            </p:cNvSpPr>
            <p:nvPr/>
          </p:nvSpPr>
          <p:spPr>
            <a:xfrm>
              <a:off x="626919" y="2065769"/>
              <a:ext cx="3364345" cy="23492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dirty="0"/>
                <a:t>Unconscious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8AF7F4B-B919-6CC6-DEE4-4059526A70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72" r="22683"/>
            <a:stretch>
              <a:fillRect/>
            </a:stretch>
          </p:blipFill>
          <p:spPr bwMode="auto">
            <a:xfrm>
              <a:off x="544945" y="2639980"/>
              <a:ext cx="3528291" cy="32142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CFE790-7002-D32B-680F-DA99912E5A15}"/>
              </a:ext>
            </a:extLst>
          </p:cNvPr>
          <p:cNvGrpSpPr/>
          <p:nvPr/>
        </p:nvGrpSpPr>
        <p:grpSpPr>
          <a:xfrm>
            <a:off x="8527472" y="1520830"/>
            <a:ext cx="2826328" cy="3214255"/>
            <a:chOff x="8118764" y="2065769"/>
            <a:chExt cx="3528291" cy="3790086"/>
          </a:xfrm>
        </p:grpSpPr>
        <p:sp>
          <p:nvSpPr>
            <p:cNvPr id="5" name="내용 개체 틀 2">
              <a:extLst>
                <a:ext uri="{FF2B5EF4-FFF2-40B4-BE49-F238E27FC236}">
                  <a16:creationId xmlns:a16="http://schemas.microsoft.com/office/drawing/2014/main" id="{8AD6B781-2048-FC7C-3CB6-C0243B7F509E}"/>
                </a:ext>
              </a:extLst>
            </p:cNvPr>
            <p:cNvSpPr txBox="1">
              <a:spLocks/>
            </p:cNvSpPr>
            <p:nvPr/>
          </p:nvSpPr>
          <p:spPr>
            <a:xfrm>
              <a:off x="8200738" y="2065769"/>
              <a:ext cx="3364345" cy="23492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dirty="0"/>
                <a:t>Foggy Lens</a:t>
              </a:r>
              <a:endParaRPr lang="ko-KR" altLang="en-US" dirty="0"/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85441311-C1E7-DF00-0E66-3A9DA33106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27" r="19127"/>
            <a:stretch>
              <a:fillRect/>
            </a:stretch>
          </p:blipFill>
          <p:spPr bwMode="auto">
            <a:xfrm>
              <a:off x="8118764" y="2639980"/>
              <a:ext cx="3528291" cy="3215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F5AC1958-9AAA-DE6F-2B28-B26BB18DF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r="24320"/>
          <a:stretch>
            <a:fillRect/>
          </a:stretch>
        </p:blipFill>
        <p:spPr bwMode="auto">
          <a:xfrm>
            <a:off x="4682836" y="2007801"/>
            <a:ext cx="2826328" cy="272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490F65E-528D-3A57-4889-EBBF04686098}"/>
              </a:ext>
            </a:extLst>
          </p:cNvPr>
          <p:cNvSpPr/>
          <p:nvPr/>
        </p:nvSpPr>
        <p:spPr>
          <a:xfrm>
            <a:off x="1713346" y="4830615"/>
            <a:ext cx="489527" cy="76661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954ED97-4D49-B165-1821-EE8F2C289AFB}"/>
              </a:ext>
            </a:extLst>
          </p:cNvPr>
          <p:cNvSpPr txBox="1">
            <a:spLocks/>
          </p:cNvSpPr>
          <p:nvPr/>
        </p:nvSpPr>
        <p:spPr>
          <a:xfrm>
            <a:off x="170222" y="5855852"/>
            <a:ext cx="3575774" cy="820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MRM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0809902D-BD1C-81CA-C99E-9D795F5009A8}"/>
              </a:ext>
            </a:extLst>
          </p:cNvPr>
          <p:cNvSpPr/>
          <p:nvPr/>
        </p:nvSpPr>
        <p:spPr>
          <a:xfrm>
            <a:off x="5851237" y="4830615"/>
            <a:ext cx="489527" cy="76661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B53D125-AE5E-C337-0754-194E6CAE4CB8}"/>
              </a:ext>
            </a:extLst>
          </p:cNvPr>
          <p:cNvSpPr txBox="1">
            <a:spLocks/>
          </p:cNvSpPr>
          <p:nvPr/>
        </p:nvSpPr>
        <p:spPr>
          <a:xfrm>
            <a:off x="4308113" y="5855852"/>
            <a:ext cx="3575774" cy="820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POP UP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475A4A0E-C249-A03C-CF63-ECD320C7427C}"/>
              </a:ext>
            </a:extLst>
          </p:cNvPr>
          <p:cNvSpPr/>
          <p:nvPr/>
        </p:nvSpPr>
        <p:spPr>
          <a:xfrm>
            <a:off x="9744365" y="4830615"/>
            <a:ext cx="489527" cy="76661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7BA870C-FBE5-D35D-D608-B3317CC762B4}"/>
              </a:ext>
            </a:extLst>
          </p:cNvPr>
          <p:cNvSpPr txBox="1">
            <a:spLocks/>
          </p:cNvSpPr>
          <p:nvPr/>
        </p:nvSpPr>
        <p:spPr>
          <a:xfrm>
            <a:off x="8201241" y="5855852"/>
            <a:ext cx="3575774" cy="820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POP UP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104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111</Words>
  <Application>Microsoft Office PowerPoint</Application>
  <PresentationFormat>와이드스크린</PresentationFormat>
  <Paragraphs>74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System Architecture</vt:lpstr>
      <vt:lpstr>MediaPipe – Drowsy &amp; Impairment</vt:lpstr>
      <vt:lpstr>VLM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이서영</dc:creator>
  <cp:lastModifiedBy>이서영</cp:lastModifiedBy>
  <cp:revision>14</cp:revision>
  <dcterms:created xsi:type="dcterms:W3CDTF">2026-05-04T12:34:19Z</dcterms:created>
  <dcterms:modified xsi:type="dcterms:W3CDTF">2026-05-05T10:45:31Z</dcterms:modified>
</cp:coreProperties>
</file>